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p:scale>
          <a:sx n="66" d="100"/>
          <a:sy n="66" d="100"/>
        </p:scale>
        <p:origin x="108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82E20F-505E-4431-B62E-42C5ED6D7381}" type="datetimeFigureOut">
              <a:rPr lang="es-CR" smtClean="0"/>
              <a:t>29/6/2026</a:t>
            </a:fld>
            <a:endParaRPr lang="es-C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FA802-41E3-4DAA-A935-13175DA0175C}" type="slidenum">
              <a:rPr lang="es-CR" smtClean="0"/>
              <a:t>‹Nº›</a:t>
            </a:fld>
            <a:endParaRPr lang="es-CR"/>
          </a:p>
        </p:txBody>
      </p:sp>
    </p:spTree>
    <p:extLst>
      <p:ext uri="{BB962C8B-B14F-4D97-AF65-F5344CB8AC3E}">
        <p14:creationId xmlns:p14="http://schemas.microsoft.com/office/powerpoint/2010/main" val="223924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DE6FA802-41E3-4DAA-A935-13175DA0175C}" type="slidenum">
              <a:rPr lang="es-CR" smtClean="0"/>
              <a:t>5</a:t>
            </a:fld>
            <a:endParaRPr lang="es-CR"/>
          </a:p>
        </p:txBody>
      </p:sp>
    </p:spTree>
    <p:extLst>
      <p:ext uri="{BB962C8B-B14F-4D97-AF65-F5344CB8AC3E}">
        <p14:creationId xmlns:p14="http://schemas.microsoft.com/office/powerpoint/2010/main" val="2531407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199475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335550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184558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339784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68512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2628358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4143208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1458885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26476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187711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6/29/2026</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‹Nº›</a:t>
            </a:fld>
            <a:endParaRPr lang="en-US"/>
          </a:p>
        </p:txBody>
      </p:sp>
    </p:spTree>
    <p:extLst>
      <p:ext uri="{BB962C8B-B14F-4D97-AF65-F5344CB8AC3E}">
        <p14:creationId xmlns:p14="http://schemas.microsoft.com/office/powerpoint/2010/main" val="3844387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6/29/2026</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‹Nº›</a:t>
            </a:fld>
            <a:endParaRPr lang="en-US"/>
          </a:p>
        </p:txBody>
      </p:sp>
    </p:spTree>
    <p:extLst>
      <p:ext uri="{BB962C8B-B14F-4D97-AF65-F5344CB8AC3E}">
        <p14:creationId xmlns:p14="http://schemas.microsoft.com/office/powerpoint/2010/main" val="2937914201"/>
      </p:ext>
    </p:extLst>
  </p:cSld>
  <p:clrMap bg1="dk1" tx1="lt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hyperlink" Target="https://www.figma.com/design/zdvAyj94ybyZsFHrDNhOfV/Proyecto-Final?m=auto&amp;t=89EerNUn2UghH1NK-1"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Imagen 4">
            <a:extLst>
              <a:ext uri="{FF2B5EF4-FFF2-40B4-BE49-F238E27FC236}">
                <a16:creationId xmlns:a16="http://schemas.microsoft.com/office/drawing/2014/main" id="{0718A46E-8B96-314A-F61B-C63439FC8B55}"/>
              </a:ext>
            </a:extLst>
          </p:cNvPr>
          <p:cNvPicPr>
            <a:picLocks noChangeAspect="1"/>
          </p:cNvPicPr>
          <p:nvPr/>
        </p:nvPicPr>
        <p:blipFill>
          <a:blip r:embed="rId2">
            <a:extLst>
              <a:ext uri="{28A0092B-C50C-407E-A947-70E740481C1C}">
                <a14:useLocalDpi xmlns:a14="http://schemas.microsoft.com/office/drawing/2010/main" val="0"/>
              </a:ext>
            </a:extLst>
          </a:blip>
          <a:srcRect l="31621" r="36218"/>
          <a:stretch>
            <a:fillRect/>
          </a:stretch>
        </p:blipFill>
        <p:spPr>
          <a:xfrm>
            <a:off x="5264728" y="2"/>
            <a:ext cx="6927272" cy="5330949"/>
          </a:xfrm>
          <a:custGeom>
            <a:avLst/>
            <a:gdLst/>
            <a:ahLst/>
            <a:cxnLst/>
            <a:rect l="l" t="t" r="r" b="b"/>
            <a:pathLst>
              <a:path w="6927272" h="5330949">
                <a:moveTo>
                  <a:pt x="0" y="0"/>
                </a:moveTo>
                <a:lnTo>
                  <a:pt x="6927272" y="0"/>
                </a:lnTo>
                <a:lnTo>
                  <a:pt x="6927272" y="3912793"/>
                </a:lnTo>
                <a:lnTo>
                  <a:pt x="6884989" y="4002742"/>
                </a:lnTo>
                <a:cubicBezTo>
                  <a:pt x="6799406" y="4174873"/>
                  <a:pt x="6702812" y="4339578"/>
                  <a:pt x="6592028" y="4494163"/>
                </a:cubicBezTo>
                <a:cubicBezTo>
                  <a:pt x="5802121" y="5596640"/>
                  <a:pt x="4821632" y="5380883"/>
                  <a:pt x="3742808" y="5122218"/>
                </a:cubicBezTo>
                <a:cubicBezTo>
                  <a:pt x="2131653" y="4735722"/>
                  <a:pt x="759367" y="4191689"/>
                  <a:pt x="326623" y="2148182"/>
                </a:cubicBezTo>
                <a:cubicBezTo>
                  <a:pt x="186907" y="1488770"/>
                  <a:pt x="67840" y="834043"/>
                  <a:pt x="13721" y="201231"/>
                </a:cubicBezTo>
                <a:close/>
              </a:path>
            </a:pathLst>
          </a:custGeom>
        </p:spPr>
      </p:pic>
      <p:sp>
        <p:nvSpPr>
          <p:cNvPr id="12" name="Freeform: Shape 11">
            <a:extLst>
              <a:ext uri="{FF2B5EF4-FFF2-40B4-BE49-F238E27FC236}">
                <a16:creationId xmlns:a16="http://schemas.microsoft.com/office/drawing/2014/main" id="{A9896C11-F8DF-437A-B349-8AFD602D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791199" y="-1219198"/>
            <a:ext cx="5181601" cy="7620000"/>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ítulo 1">
            <a:extLst>
              <a:ext uri="{FF2B5EF4-FFF2-40B4-BE49-F238E27FC236}">
                <a16:creationId xmlns:a16="http://schemas.microsoft.com/office/drawing/2014/main" id="{51453D63-E280-39DC-B822-1020F60E09C6}"/>
              </a:ext>
            </a:extLst>
          </p:cNvPr>
          <p:cNvSpPr>
            <a:spLocks noGrp="1"/>
          </p:cNvSpPr>
          <p:nvPr>
            <p:ph type="ctrTitle"/>
          </p:nvPr>
        </p:nvSpPr>
        <p:spPr>
          <a:xfrm>
            <a:off x="564909" y="140107"/>
            <a:ext cx="4572000" cy="2286000"/>
          </a:xfrm>
        </p:spPr>
        <p:txBody>
          <a:bodyPr>
            <a:normAutofit/>
          </a:bodyPr>
          <a:lstStyle/>
          <a:p>
            <a:pPr algn="l"/>
            <a:r>
              <a:rPr lang="es-CR" sz="4400" dirty="0"/>
              <a:t>Queque girasol</a:t>
            </a:r>
          </a:p>
        </p:txBody>
      </p:sp>
      <p:sp>
        <p:nvSpPr>
          <p:cNvPr id="3" name="Subtítulo 2">
            <a:extLst>
              <a:ext uri="{FF2B5EF4-FFF2-40B4-BE49-F238E27FC236}">
                <a16:creationId xmlns:a16="http://schemas.microsoft.com/office/drawing/2014/main" id="{E622C49B-655B-6858-CC08-AC16360B29CC}"/>
              </a:ext>
            </a:extLst>
          </p:cNvPr>
          <p:cNvSpPr>
            <a:spLocks noGrp="1"/>
          </p:cNvSpPr>
          <p:nvPr>
            <p:ph type="subTitle" idx="1"/>
          </p:nvPr>
        </p:nvSpPr>
        <p:spPr>
          <a:xfrm>
            <a:off x="564909" y="3323303"/>
            <a:ext cx="4572000" cy="1524000"/>
          </a:xfrm>
        </p:spPr>
        <p:txBody>
          <a:bodyPr>
            <a:normAutofit/>
          </a:bodyPr>
          <a:lstStyle/>
          <a:p>
            <a:pPr algn="l"/>
            <a:r>
              <a:rPr lang="es-CR" dirty="0"/>
              <a:t>De: Jafeth </a:t>
            </a:r>
            <a:r>
              <a:rPr lang="es-CR" dirty="0" err="1"/>
              <a:t>espinoza</a:t>
            </a:r>
            <a:r>
              <a:rPr lang="es-CR" dirty="0"/>
              <a:t> villarreal</a:t>
            </a:r>
          </a:p>
        </p:txBody>
      </p:sp>
    </p:spTree>
    <p:extLst>
      <p:ext uri="{BB962C8B-B14F-4D97-AF65-F5344CB8AC3E}">
        <p14:creationId xmlns:p14="http://schemas.microsoft.com/office/powerpoint/2010/main" val="233663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464E7C-EC8E-3204-6EC4-9949780549CE}"/>
              </a:ext>
            </a:extLst>
          </p:cNvPr>
          <p:cNvSpPr>
            <a:spLocks noGrp="1"/>
          </p:cNvSpPr>
          <p:nvPr>
            <p:ph type="title"/>
          </p:nvPr>
        </p:nvSpPr>
        <p:spPr>
          <a:xfrm>
            <a:off x="762000" y="428264"/>
            <a:ext cx="10668000" cy="1101645"/>
          </a:xfrm>
        </p:spPr>
        <p:txBody>
          <a:bodyPr/>
          <a:lstStyle/>
          <a:p>
            <a:pPr algn="ctr"/>
            <a:r>
              <a:rPr lang="es-CR" dirty="0"/>
              <a:t>Problema de diseño y cliente</a:t>
            </a:r>
          </a:p>
        </p:txBody>
      </p:sp>
      <p:sp>
        <p:nvSpPr>
          <p:cNvPr id="3" name="Marcador de texto 2">
            <a:extLst>
              <a:ext uri="{FF2B5EF4-FFF2-40B4-BE49-F238E27FC236}">
                <a16:creationId xmlns:a16="http://schemas.microsoft.com/office/drawing/2014/main" id="{F116C81B-665B-B249-3AAF-7C8C8A7F0CD4}"/>
              </a:ext>
            </a:extLst>
          </p:cNvPr>
          <p:cNvSpPr>
            <a:spLocks noGrp="1"/>
          </p:cNvSpPr>
          <p:nvPr>
            <p:ph type="body" idx="1"/>
          </p:nvPr>
        </p:nvSpPr>
        <p:spPr>
          <a:xfrm>
            <a:off x="935620" y="2019883"/>
            <a:ext cx="10668000" cy="2864633"/>
          </a:xfrm>
        </p:spPr>
        <p:txBody>
          <a:bodyPr>
            <a:noAutofit/>
          </a:bodyPr>
          <a:lstStyle/>
          <a:p>
            <a:pPr algn="ctr"/>
            <a:r>
              <a:rPr lang="es-CR" dirty="0"/>
              <a:t>Mi cliente fue mi madre entonces surgió un pequeño problema porque no estaba entendiendo que tenia que hacer y decir pero la ayude a moldear la idea yo la guie un poco nada mas, surgieron problemas en el sentido que algunas cosas que pedía no las podía implementar por que no estamos haciendo de forma completamente libre entonces tuve que limitar un poco sus ideas.</a:t>
            </a:r>
          </a:p>
        </p:txBody>
      </p:sp>
    </p:spTree>
    <p:extLst>
      <p:ext uri="{BB962C8B-B14F-4D97-AF65-F5344CB8AC3E}">
        <p14:creationId xmlns:p14="http://schemas.microsoft.com/office/powerpoint/2010/main" val="253280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0BC64-1E9A-EC82-B227-8C5CEF3E5500}"/>
              </a:ext>
            </a:extLst>
          </p:cNvPr>
          <p:cNvSpPr>
            <a:spLocks noGrp="1"/>
          </p:cNvSpPr>
          <p:nvPr>
            <p:ph type="title"/>
          </p:nvPr>
        </p:nvSpPr>
        <p:spPr>
          <a:xfrm>
            <a:off x="634678" y="378970"/>
            <a:ext cx="10668000" cy="1889567"/>
          </a:xfrm>
        </p:spPr>
        <p:txBody>
          <a:bodyPr/>
          <a:lstStyle/>
          <a:p>
            <a:pPr algn="ctr"/>
            <a:r>
              <a:rPr lang="es-CR" dirty="0"/>
              <a:t>Público meta y necesidades identificadas</a:t>
            </a:r>
          </a:p>
        </p:txBody>
      </p:sp>
      <p:sp>
        <p:nvSpPr>
          <p:cNvPr id="3" name="Marcador de texto 2">
            <a:extLst>
              <a:ext uri="{FF2B5EF4-FFF2-40B4-BE49-F238E27FC236}">
                <a16:creationId xmlns:a16="http://schemas.microsoft.com/office/drawing/2014/main" id="{270B683E-E0EE-1177-268B-8DBFA5AB5DE0}"/>
              </a:ext>
            </a:extLst>
          </p:cNvPr>
          <p:cNvSpPr>
            <a:spLocks noGrp="1"/>
          </p:cNvSpPr>
          <p:nvPr>
            <p:ph type="body" idx="1"/>
          </p:nvPr>
        </p:nvSpPr>
        <p:spPr>
          <a:xfrm>
            <a:off x="762000" y="2830111"/>
            <a:ext cx="10668000" cy="1506537"/>
          </a:xfrm>
        </p:spPr>
        <p:txBody>
          <a:bodyPr/>
          <a:lstStyle/>
          <a:p>
            <a:pPr algn="ctr"/>
            <a:r>
              <a:rPr lang="es-CR" dirty="0"/>
              <a:t>El publico al ser tan amplio se necesita hacer una pagina que tuviera una forma en que cualquier ser humano lo entienda además de ser accesible a todo tipo de publico.</a:t>
            </a:r>
          </a:p>
        </p:txBody>
      </p:sp>
    </p:spTree>
    <p:extLst>
      <p:ext uri="{BB962C8B-B14F-4D97-AF65-F5344CB8AC3E}">
        <p14:creationId xmlns:p14="http://schemas.microsoft.com/office/powerpoint/2010/main" val="669061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ítulo 1">
            <a:extLst>
              <a:ext uri="{FF2B5EF4-FFF2-40B4-BE49-F238E27FC236}">
                <a16:creationId xmlns:a16="http://schemas.microsoft.com/office/drawing/2014/main" id="{A34E1F82-4651-304E-4FC2-20EBA87CBB4C}"/>
              </a:ext>
            </a:extLst>
          </p:cNvPr>
          <p:cNvSpPr>
            <a:spLocks noGrp="1"/>
          </p:cNvSpPr>
          <p:nvPr>
            <p:ph type="title"/>
          </p:nvPr>
        </p:nvSpPr>
        <p:spPr>
          <a:xfrm>
            <a:off x="448492" y="787217"/>
            <a:ext cx="4493288" cy="1634252"/>
          </a:xfrm>
        </p:spPr>
        <p:txBody>
          <a:bodyPr vert="horz" lIns="91440" tIns="45720" rIns="91440" bIns="45720" rtlCol="0" anchor="b">
            <a:normAutofit/>
          </a:bodyPr>
          <a:lstStyle/>
          <a:p>
            <a:r>
              <a:rPr lang="en-US" sz="4400" kern="1200" dirty="0" err="1">
                <a:solidFill>
                  <a:schemeClr val="tx1"/>
                </a:solidFill>
                <a:latin typeface="+mj-lt"/>
                <a:ea typeface="+mj-ea"/>
                <a:cs typeface="+mj-cs"/>
              </a:rPr>
              <a:t>Racional</a:t>
            </a:r>
            <a:r>
              <a:rPr lang="en-US" sz="4400" kern="1200" dirty="0">
                <a:solidFill>
                  <a:schemeClr val="tx1"/>
                </a:solidFill>
                <a:latin typeface="+mj-lt"/>
                <a:ea typeface="+mj-ea"/>
                <a:cs typeface="+mj-cs"/>
              </a:rPr>
              <a:t> </a:t>
            </a:r>
            <a:r>
              <a:rPr lang="es-CR" sz="4400" kern="1200" noProof="0" dirty="0">
                <a:solidFill>
                  <a:schemeClr val="tx1"/>
                </a:solidFill>
                <a:latin typeface="+mj-lt"/>
                <a:ea typeface="+mj-ea"/>
                <a:cs typeface="+mj-cs"/>
              </a:rPr>
              <a:t>creativo</a:t>
            </a:r>
            <a:r>
              <a:rPr lang="en-US" sz="4400" kern="1200" dirty="0">
                <a:solidFill>
                  <a:schemeClr val="tx1"/>
                </a:solidFill>
                <a:latin typeface="+mj-lt"/>
                <a:ea typeface="+mj-ea"/>
                <a:cs typeface="+mj-cs"/>
              </a:rPr>
              <a:t> y </a:t>
            </a:r>
            <a:r>
              <a:rPr lang="en-US" sz="4400" kern="1200" dirty="0" err="1">
                <a:solidFill>
                  <a:schemeClr val="tx1"/>
                </a:solidFill>
                <a:latin typeface="+mj-lt"/>
                <a:ea typeface="+mj-ea"/>
                <a:cs typeface="+mj-cs"/>
              </a:rPr>
              <a:t>concepto</a:t>
            </a:r>
            <a:r>
              <a:rPr lang="en-US" sz="4400" kern="1200" dirty="0">
                <a:solidFill>
                  <a:schemeClr val="tx1"/>
                </a:solidFill>
                <a:latin typeface="+mj-lt"/>
                <a:ea typeface="+mj-ea"/>
                <a:cs typeface="+mj-cs"/>
              </a:rPr>
              <a:t> visual</a:t>
            </a:r>
          </a:p>
        </p:txBody>
      </p:sp>
      <p:sp>
        <p:nvSpPr>
          <p:cNvPr id="18" name="Freeform: Shape 17">
            <a:extLst>
              <a:ext uri="{FF2B5EF4-FFF2-40B4-BE49-F238E27FC236}">
                <a16:creationId xmlns:a16="http://schemas.microsoft.com/office/drawing/2014/main" id="{F798D3DD-23B7-41EE-9021-C8F9A8E2C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grpSp>
        <p:nvGrpSpPr>
          <p:cNvPr id="20" name="Group 19">
            <a:extLst>
              <a:ext uri="{FF2B5EF4-FFF2-40B4-BE49-F238E27FC236}">
                <a16:creationId xmlns:a16="http://schemas.microsoft.com/office/drawing/2014/main" id="{2C072688-BFC7-4FE8-A45E-B3C63CBB96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1" name="Freeform: Shape 20">
              <a:extLst>
                <a:ext uri="{FF2B5EF4-FFF2-40B4-BE49-F238E27FC236}">
                  <a16:creationId xmlns:a16="http://schemas.microsoft.com/office/drawing/2014/main" id="{F3002ED9-43C6-4BA8-8941-9AFCB04E4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4EB09750-C9B1-40CE-AB9B-FEB308A1F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pic>
        <p:nvPicPr>
          <p:cNvPr id="5" name="Imagen 4">
            <a:extLst>
              <a:ext uri="{FF2B5EF4-FFF2-40B4-BE49-F238E27FC236}">
                <a16:creationId xmlns:a16="http://schemas.microsoft.com/office/drawing/2014/main" id="{FE6AD71C-6D0F-AF31-3FE8-7E82B37D12E6}"/>
              </a:ext>
            </a:extLst>
          </p:cNvPr>
          <p:cNvPicPr>
            <a:picLocks noChangeAspect="1"/>
          </p:cNvPicPr>
          <p:nvPr/>
        </p:nvPicPr>
        <p:blipFill>
          <a:blip r:embed="rId2">
            <a:extLst>
              <a:ext uri="{28A0092B-C50C-407E-A947-70E740481C1C}">
                <a14:useLocalDpi xmlns:a14="http://schemas.microsoft.com/office/drawing/2010/main" val="0"/>
              </a:ext>
            </a:extLst>
          </a:blip>
          <a:srcRect l="13658" r="16340" b="-2"/>
          <a:stretch>
            <a:fillRect/>
          </a:stretch>
        </p:blipFill>
        <p:spPr>
          <a:xfrm>
            <a:off x="5334000" y="762000"/>
            <a:ext cx="6096000" cy="5333999"/>
          </a:xfrm>
          <a:prstGeom prst="rect">
            <a:avLst/>
          </a:prstGeom>
        </p:spPr>
      </p:pic>
    </p:spTree>
    <p:extLst>
      <p:ext uri="{BB962C8B-B14F-4D97-AF65-F5344CB8AC3E}">
        <p14:creationId xmlns:p14="http://schemas.microsoft.com/office/powerpoint/2010/main" val="1509427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B400C-550C-7C0A-C5BF-0A462822C26F}"/>
              </a:ext>
            </a:extLst>
          </p:cNvPr>
          <p:cNvSpPr>
            <a:spLocks noGrp="1"/>
          </p:cNvSpPr>
          <p:nvPr>
            <p:ph type="title"/>
          </p:nvPr>
        </p:nvSpPr>
        <p:spPr>
          <a:xfrm>
            <a:off x="319548" y="226143"/>
            <a:ext cx="11552903" cy="1799610"/>
          </a:xfrm>
        </p:spPr>
        <p:txBody>
          <a:bodyPr/>
          <a:lstStyle/>
          <a:p>
            <a:pPr algn="ctr"/>
            <a:r>
              <a:rPr lang="es-CR" dirty="0"/>
              <a:t>Explicación de estructura y componentes principales</a:t>
            </a:r>
          </a:p>
        </p:txBody>
      </p:sp>
      <p:pic>
        <p:nvPicPr>
          <p:cNvPr id="5" name="Imagen 4">
            <a:extLst>
              <a:ext uri="{FF2B5EF4-FFF2-40B4-BE49-F238E27FC236}">
                <a16:creationId xmlns:a16="http://schemas.microsoft.com/office/drawing/2014/main" id="{301BA163-5A80-FFC1-F813-15E8AB10382F}"/>
              </a:ext>
            </a:extLst>
          </p:cNvPr>
          <p:cNvPicPr>
            <a:picLocks noChangeAspect="1"/>
          </p:cNvPicPr>
          <p:nvPr/>
        </p:nvPicPr>
        <p:blipFill>
          <a:blip r:embed="rId3"/>
          <a:stretch>
            <a:fillRect/>
          </a:stretch>
        </p:blipFill>
        <p:spPr>
          <a:xfrm>
            <a:off x="404615" y="2395389"/>
            <a:ext cx="4740051" cy="1874682"/>
          </a:xfrm>
          <a:prstGeom prst="rect">
            <a:avLst/>
          </a:prstGeom>
        </p:spPr>
      </p:pic>
      <p:pic>
        <p:nvPicPr>
          <p:cNvPr id="7" name="Imagen 6">
            <a:extLst>
              <a:ext uri="{FF2B5EF4-FFF2-40B4-BE49-F238E27FC236}">
                <a16:creationId xmlns:a16="http://schemas.microsoft.com/office/drawing/2014/main" id="{FCCCAD0D-89CD-1082-18EC-78B4EED321D8}"/>
              </a:ext>
            </a:extLst>
          </p:cNvPr>
          <p:cNvPicPr>
            <a:picLocks noChangeAspect="1"/>
          </p:cNvPicPr>
          <p:nvPr/>
        </p:nvPicPr>
        <p:blipFill>
          <a:blip r:embed="rId4"/>
          <a:stretch>
            <a:fillRect/>
          </a:stretch>
        </p:blipFill>
        <p:spPr>
          <a:xfrm>
            <a:off x="588799" y="4639707"/>
            <a:ext cx="4663844" cy="1752752"/>
          </a:xfrm>
          <a:prstGeom prst="rect">
            <a:avLst/>
          </a:prstGeom>
        </p:spPr>
      </p:pic>
      <p:pic>
        <p:nvPicPr>
          <p:cNvPr id="9" name="Imagen 8">
            <a:extLst>
              <a:ext uri="{FF2B5EF4-FFF2-40B4-BE49-F238E27FC236}">
                <a16:creationId xmlns:a16="http://schemas.microsoft.com/office/drawing/2014/main" id="{7BEC365C-7DED-283F-DE25-17E69186A4EE}"/>
              </a:ext>
            </a:extLst>
          </p:cNvPr>
          <p:cNvPicPr>
            <a:picLocks noChangeAspect="1"/>
          </p:cNvPicPr>
          <p:nvPr/>
        </p:nvPicPr>
        <p:blipFill>
          <a:blip r:embed="rId5"/>
          <a:stretch>
            <a:fillRect/>
          </a:stretch>
        </p:blipFill>
        <p:spPr>
          <a:xfrm>
            <a:off x="5769587" y="2395389"/>
            <a:ext cx="2339543" cy="2568163"/>
          </a:xfrm>
          <a:prstGeom prst="rect">
            <a:avLst/>
          </a:prstGeom>
        </p:spPr>
      </p:pic>
      <p:pic>
        <p:nvPicPr>
          <p:cNvPr id="11" name="Imagen 10">
            <a:extLst>
              <a:ext uri="{FF2B5EF4-FFF2-40B4-BE49-F238E27FC236}">
                <a16:creationId xmlns:a16="http://schemas.microsoft.com/office/drawing/2014/main" id="{C5E6CD26-2A97-B602-50D7-502F6DE59BB6}"/>
              </a:ext>
            </a:extLst>
          </p:cNvPr>
          <p:cNvPicPr>
            <a:picLocks noChangeAspect="1"/>
          </p:cNvPicPr>
          <p:nvPr/>
        </p:nvPicPr>
        <p:blipFill>
          <a:blip r:embed="rId6"/>
          <a:stretch>
            <a:fillRect/>
          </a:stretch>
        </p:blipFill>
        <p:spPr>
          <a:xfrm>
            <a:off x="9529922" y="2028265"/>
            <a:ext cx="1769993" cy="4732719"/>
          </a:xfrm>
          <a:prstGeom prst="rect">
            <a:avLst/>
          </a:prstGeom>
        </p:spPr>
      </p:pic>
    </p:spTree>
    <p:extLst>
      <p:ext uri="{BB962C8B-B14F-4D97-AF65-F5344CB8AC3E}">
        <p14:creationId xmlns:p14="http://schemas.microsoft.com/office/powerpoint/2010/main" val="183246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11940C9-6F2A-E037-CB72-9159EA2C0572}"/>
              </a:ext>
            </a:extLst>
          </p:cNvPr>
          <p:cNvSpPr>
            <a:spLocks noGrp="1"/>
          </p:cNvSpPr>
          <p:nvPr>
            <p:ph type="body" idx="1"/>
          </p:nvPr>
        </p:nvSpPr>
        <p:spPr>
          <a:xfrm>
            <a:off x="762000" y="4240796"/>
            <a:ext cx="10668000" cy="1506537"/>
          </a:xfrm>
        </p:spPr>
        <p:txBody>
          <a:bodyPr/>
          <a:lstStyle/>
          <a:p>
            <a:pPr algn="ctr"/>
            <a:r>
              <a:rPr lang="es-CR" dirty="0">
                <a:hlinkClick r:id="rId2"/>
              </a:rPr>
              <a:t>https://www.figma.com/design/zdvAyj94ybyZsFHrDNhOfV/Proyecto-Final?m=auto&amp;t=89EerNUn2UghH1NK-1</a:t>
            </a:r>
            <a:endParaRPr lang="es-CR" dirty="0"/>
          </a:p>
        </p:txBody>
      </p:sp>
      <p:sp>
        <p:nvSpPr>
          <p:cNvPr id="4" name="CuadroTexto 3">
            <a:extLst>
              <a:ext uri="{FF2B5EF4-FFF2-40B4-BE49-F238E27FC236}">
                <a16:creationId xmlns:a16="http://schemas.microsoft.com/office/drawing/2014/main" id="{BD30B58C-B6EF-ED7E-28D8-C06D9DD28555}"/>
              </a:ext>
            </a:extLst>
          </p:cNvPr>
          <p:cNvSpPr txBox="1"/>
          <p:nvPr/>
        </p:nvSpPr>
        <p:spPr>
          <a:xfrm>
            <a:off x="3421625" y="1771630"/>
            <a:ext cx="4906297" cy="1015663"/>
          </a:xfrm>
          <a:prstGeom prst="rect">
            <a:avLst/>
          </a:prstGeom>
          <a:noFill/>
        </p:spPr>
        <p:txBody>
          <a:bodyPr wrap="square" rtlCol="0">
            <a:spAutoFit/>
          </a:bodyPr>
          <a:lstStyle/>
          <a:p>
            <a:pPr algn="ctr"/>
            <a:r>
              <a:rPr lang="es-CR" sz="6000" dirty="0"/>
              <a:t>Prototipo</a:t>
            </a:r>
          </a:p>
        </p:txBody>
      </p:sp>
    </p:spTree>
    <p:extLst>
      <p:ext uri="{BB962C8B-B14F-4D97-AF65-F5344CB8AC3E}">
        <p14:creationId xmlns:p14="http://schemas.microsoft.com/office/powerpoint/2010/main" val="370820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ítulo 1">
            <a:extLst>
              <a:ext uri="{FF2B5EF4-FFF2-40B4-BE49-F238E27FC236}">
                <a16:creationId xmlns:a16="http://schemas.microsoft.com/office/drawing/2014/main" id="{0B291358-C639-2FFD-1441-249403B187BC}"/>
              </a:ext>
            </a:extLst>
          </p:cNvPr>
          <p:cNvSpPr>
            <a:spLocks noGrp="1"/>
          </p:cNvSpPr>
          <p:nvPr>
            <p:ph type="title"/>
          </p:nvPr>
        </p:nvSpPr>
        <p:spPr>
          <a:xfrm>
            <a:off x="671565" y="756957"/>
            <a:ext cx="3810000" cy="1487622"/>
          </a:xfrm>
        </p:spPr>
        <p:txBody>
          <a:bodyPr vert="horz" lIns="91440" tIns="45720" rIns="91440" bIns="45720" rtlCol="0" anchor="b">
            <a:normAutofit/>
          </a:bodyPr>
          <a:lstStyle/>
          <a:p>
            <a:r>
              <a:rPr lang="en-US" sz="3700" kern="1200" dirty="0">
                <a:solidFill>
                  <a:schemeClr val="tx1"/>
                </a:solidFill>
                <a:latin typeface="+mj-lt"/>
                <a:ea typeface="+mj-ea"/>
                <a:cs typeface="+mj-cs"/>
              </a:rPr>
              <a:t>Guía de </a:t>
            </a:r>
            <a:r>
              <a:rPr lang="en-US" sz="3700" kern="1200" dirty="0" err="1">
                <a:solidFill>
                  <a:schemeClr val="tx1"/>
                </a:solidFill>
                <a:latin typeface="+mj-lt"/>
                <a:ea typeface="+mj-ea"/>
                <a:cs typeface="+mj-cs"/>
              </a:rPr>
              <a:t>diseño</a:t>
            </a:r>
            <a:r>
              <a:rPr lang="en-US" sz="3700" kern="1200" dirty="0">
                <a:solidFill>
                  <a:schemeClr val="tx1"/>
                </a:solidFill>
                <a:latin typeface="+mj-lt"/>
                <a:ea typeface="+mj-ea"/>
                <a:cs typeface="+mj-cs"/>
              </a:rPr>
              <a:t> y</a:t>
            </a:r>
            <a:br>
              <a:rPr lang="en-US" sz="3700" kern="1200" dirty="0">
                <a:solidFill>
                  <a:schemeClr val="tx1"/>
                </a:solidFill>
                <a:latin typeface="+mj-lt"/>
                <a:ea typeface="+mj-ea"/>
                <a:cs typeface="+mj-cs"/>
              </a:rPr>
            </a:br>
            <a:r>
              <a:rPr lang="en-US" sz="3700" kern="1200" dirty="0" err="1">
                <a:solidFill>
                  <a:schemeClr val="tx1"/>
                </a:solidFill>
                <a:latin typeface="+mj-lt"/>
                <a:ea typeface="+mj-ea"/>
                <a:cs typeface="+mj-cs"/>
              </a:rPr>
              <a:t>especificaciones</a:t>
            </a:r>
            <a:endParaRPr lang="en-US" sz="3700" kern="1200" dirty="0">
              <a:solidFill>
                <a:schemeClr val="tx1"/>
              </a:solidFill>
              <a:latin typeface="+mj-lt"/>
              <a:ea typeface="+mj-ea"/>
              <a:cs typeface="+mj-cs"/>
            </a:endParaRPr>
          </a:p>
        </p:txBody>
      </p:sp>
      <p:sp>
        <p:nvSpPr>
          <p:cNvPr id="18" name="Freeform: Shape 17">
            <a:extLst>
              <a:ext uri="{FF2B5EF4-FFF2-40B4-BE49-F238E27FC236}">
                <a16:creationId xmlns:a16="http://schemas.microsoft.com/office/drawing/2014/main" id="{F798D3DD-23B7-41EE-9021-C8F9A8E2C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grpSp>
        <p:nvGrpSpPr>
          <p:cNvPr id="20" name="Group 19">
            <a:extLst>
              <a:ext uri="{FF2B5EF4-FFF2-40B4-BE49-F238E27FC236}">
                <a16:creationId xmlns:a16="http://schemas.microsoft.com/office/drawing/2014/main" id="{2C072688-BFC7-4FE8-A45E-B3C63CBB96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1" name="Freeform: Shape 20">
              <a:extLst>
                <a:ext uri="{FF2B5EF4-FFF2-40B4-BE49-F238E27FC236}">
                  <a16:creationId xmlns:a16="http://schemas.microsoft.com/office/drawing/2014/main" id="{F3002ED9-43C6-4BA8-8941-9AFCB04E4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4EB09750-C9B1-40CE-AB9B-FEB308A1F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pic>
        <p:nvPicPr>
          <p:cNvPr id="5" name="Imagen 4">
            <a:extLst>
              <a:ext uri="{FF2B5EF4-FFF2-40B4-BE49-F238E27FC236}">
                <a16:creationId xmlns:a16="http://schemas.microsoft.com/office/drawing/2014/main" id="{32EF2920-5313-3CDC-A809-AFDE4EAF361F}"/>
              </a:ext>
            </a:extLst>
          </p:cNvPr>
          <p:cNvPicPr>
            <a:picLocks noChangeAspect="1"/>
          </p:cNvPicPr>
          <p:nvPr/>
        </p:nvPicPr>
        <p:blipFill>
          <a:blip r:embed="rId2">
            <a:extLst>
              <a:ext uri="{28A0092B-C50C-407E-A947-70E740481C1C}">
                <a14:useLocalDpi xmlns:a14="http://schemas.microsoft.com/office/drawing/2010/main" val="0"/>
              </a:ext>
            </a:extLst>
          </a:blip>
          <a:srcRect t="-324" b="34699"/>
          <a:stretch>
            <a:fillRect/>
          </a:stretch>
        </p:blipFill>
        <p:spPr>
          <a:xfrm>
            <a:off x="5334000" y="735652"/>
            <a:ext cx="6096000" cy="5333999"/>
          </a:xfrm>
          <a:prstGeom prst="rect">
            <a:avLst/>
          </a:prstGeom>
        </p:spPr>
      </p:pic>
      <p:pic>
        <p:nvPicPr>
          <p:cNvPr id="7" name="Imagen 6">
            <a:extLst>
              <a:ext uri="{FF2B5EF4-FFF2-40B4-BE49-F238E27FC236}">
                <a16:creationId xmlns:a16="http://schemas.microsoft.com/office/drawing/2014/main" id="{84592298-0878-5E4B-1DF3-3F1FE500BAA4}"/>
              </a:ext>
            </a:extLst>
          </p:cNvPr>
          <p:cNvPicPr>
            <a:picLocks noChangeAspect="1"/>
          </p:cNvPicPr>
          <p:nvPr/>
        </p:nvPicPr>
        <p:blipFill>
          <a:blip r:embed="rId3"/>
          <a:stretch>
            <a:fillRect/>
          </a:stretch>
        </p:blipFill>
        <p:spPr>
          <a:xfrm>
            <a:off x="511366" y="2471676"/>
            <a:ext cx="4130398" cy="3292125"/>
          </a:xfrm>
          <a:prstGeom prst="rect">
            <a:avLst/>
          </a:prstGeom>
        </p:spPr>
      </p:pic>
    </p:spTree>
    <p:extLst>
      <p:ext uri="{BB962C8B-B14F-4D97-AF65-F5344CB8AC3E}">
        <p14:creationId xmlns:p14="http://schemas.microsoft.com/office/powerpoint/2010/main" val="1362928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2" name="Freeform: Shape 11">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4" name="Freeform: Shape 13">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16" name="Rectangle 15">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ítulo 1">
            <a:extLst>
              <a:ext uri="{FF2B5EF4-FFF2-40B4-BE49-F238E27FC236}">
                <a16:creationId xmlns:a16="http://schemas.microsoft.com/office/drawing/2014/main" id="{B5E612B9-2D4A-B8E9-59CB-A46E656573F2}"/>
              </a:ext>
            </a:extLst>
          </p:cNvPr>
          <p:cNvSpPr>
            <a:spLocks noGrp="1"/>
          </p:cNvSpPr>
          <p:nvPr>
            <p:ph type="title"/>
          </p:nvPr>
        </p:nvSpPr>
        <p:spPr>
          <a:xfrm>
            <a:off x="762000" y="762000"/>
            <a:ext cx="3810000" cy="3048000"/>
          </a:xfrm>
        </p:spPr>
        <p:txBody>
          <a:bodyPr vert="horz" lIns="91440" tIns="45720" rIns="91440" bIns="45720" rtlCol="0" anchor="b">
            <a:normAutofit/>
          </a:bodyPr>
          <a:lstStyle/>
          <a:p>
            <a:r>
              <a:rPr lang="en-US" sz="4400" kern="1200" dirty="0" err="1">
                <a:solidFill>
                  <a:schemeClr val="tx1"/>
                </a:solidFill>
                <a:latin typeface="+mj-lt"/>
                <a:ea typeface="+mj-ea"/>
                <a:cs typeface="+mj-cs"/>
              </a:rPr>
              <a:t>Validación</a:t>
            </a:r>
            <a:r>
              <a:rPr lang="en-US" sz="4400" kern="1200" dirty="0">
                <a:solidFill>
                  <a:schemeClr val="tx1"/>
                </a:solidFill>
                <a:latin typeface="+mj-lt"/>
                <a:ea typeface="+mj-ea"/>
                <a:cs typeface="+mj-cs"/>
              </a:rPr>
              <a:t> de </a:t>
            </a:r>
            <a:r>
              <a:rPr lang="en-US" sz="4400" kern="1200" dirty="0" err="1">
                <a:solidFill>
                  <a:schemeClr val="tx1"/>
                </a:solidFill>
                <a:latin typeface="+mj-lt"/>
                <a:ea typeface="+mj-ea"/>
                <a:cs typeface="+mj-cs"/>
              </a:rPr>
              <a:t>accesibilidad</a:t>
            </a:r>
            <a:endParaRPr lang="en-US" sz="4400" kern="1200" dirty="0">
              <a:solidFill>
                <a:schemeClr val="tx1"/>
              </a:solidFill>
              <a:latin typeface="+mj-lt"/>
              <a:ea typeface="+mj-ea"/>
              <a:cs typeface="+mj-cs"/>
            </a:endParaRPr>
          </a:p>
        </p:txBody>
      </p:sp>
      <p:sp>
        <p:nvSpPr>
          <p:cNvPr id="18" name="Freeform: Shape 17">
            <a:extLst>
              <a:ext uri="{FF2B5EF4-FFF2-40B4-BE49-F238E27FC236}">
                <a16:creationId xmlns:a16="http://schemas.microsoft.com/office/drawing/2014/main" id="{F798D3DD-23B7-41EE-9021-C8F9A8E2C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grpSp>
        <p:nvGrpSpPr>
          <p:cNvPr id="20" name="Group 19">
            <a:extLst>
              <a:ext uri="{FF2B5EF4-FFF2-40B4-BE49-F238E27FC236}">
                <a16:creationId xmlns:a16="http://schemas.microsoft.com/office/drawing/2014/main" id="{2C072688-BFC7-4FE8-A45E-B3C63CBB96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1" name="Freeform: Shape 20">
              <a:extLst>
                <a:ext uri="{FF2B5EF4-FFF2-40B4-BE49-F238E27FC236}">
                  <a16:creationId xmlns:a16="http://schemas.microsoft.com/office/drawing/2014/main" id="{F3002ED9-43C6-4BA8-8941-9AFCB04E4D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2" name="Freeform: Shape 21">
              <a:extLst>
                <a:ext uri="{FF2B5EF4-FFF2-40B4-BE49-F238E27FC236}">
                  <a16:creationId xmlns:a16="http://schemas.microsoft.com/office/drawing/2014/main" id="{4EB09750-C9B1-40CE-AB9B-FEB308A1F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pic>
        <p:nvPicPr>
          <p:cNvPr id="5" name="Imagen 4">
            <a:extLst>
              <a:ext uri="{FF2B5EF4-FFF2-40B4-BE49-F238E27FC236}">
                <a16:creationId xmlns:a16="http://schemas.microsoft.com/office/drawing/2014/main" id="{E14A64A9-C720-06F8-9D9C-93145A9201D5}"/>
              </a:ext>
            </a:extLst>
          </p:cNvPr>
          <p:cNvPicPr>
            <a:picLocks noChangeAspect="1"/>
          </p:cNvPicPr>
          <p:nvPr/>
        </p:nvPicPr>
        <p:blipFill>
          <a:blip r:embed="rId2"/>
          <a:srcRect r="26251" b="-3"/>
          <a:stretch>
            <a:fillRect/>
          </a:stretch>
        </p:blipFill>
        <p:spPr>
          <a:xfrm>
            <a:off x="5334000" y="762000"/>
            <a:ext cx="6096000" cy="5333999"/>
          </a:xfrm>
          <a:prstGeom prst="rect">
            <a:avLst/>
          </a:prstGeom>
        </p:spPr>
      </p:pic>
    </p:spTree>
    <p:extLst>
      <p:ext uri="{BB962C8B-B14F-4D97-AF65-F5344CB8AC3E}">
        <p14:creationId xmlns:p14="http://schemas.microsoft.com/office/powerpoint/2010/main" val="3168074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24B7C7-A5DB-8FB1-340B-D8020CD1893C}"/>
              </a:ext>
            </a:extLst>
          </p:cNvPr>
          <p:cNvSpPr>
            <a:spLocks noGrp="1"/>
          </p:cNvSpPr>
          <p:nvPr>
            <p:ph type="title"/>
          </p:nvPr>
        </p:nvSpPr>
        <p:spPr>
          <a:xfrm>
            <a:off x="383458" y="1435510"/>
            <a:ext cx="11425084" cy="1848772"/>
          </a:xfrm>
        </p:spPr>
        <p:txBody>
          <a:bodyPr/>
          <a:lstStyle/>
          <a:p>
            <a:pPr algn="ctr"/>
            <a:r>
              <a:rPr lang="es-CR" dirty="0"/>
              <a:t>Conclusión y resultados esperados</a:t>
            </a:r>
          </a:p>
        </p:txBody>
      </p:sp>
    </p:spTree>
    <p:extLst>
      <p:ext uri="{BB962C8B-B14F-4D97-AF65-F5344CB8AC3E}">
        <p14:creationId xmlns:p14="http://schemas.microsoft.com/office/powerpoint/2010/main" val="1482014163"/>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163</Words>
  <Application>Microsoft Office PowerPoint</Application>
  <PresentationFormat>Panorámica</PresentationFormat>
  <Paragraphs>14</Paragraphs>
  <Slides>9</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Aptos</vt:lpstr>
      <vt:lpstr>Arial</vt:lpstr>
      <vt:lpstr>Avenir Next LT Pro</vt:lpstr>
      <vt:lpstr>Avenir Next LT Pro Light</vt:lpstr>
      <vt:lpstr>Sitka Subheading</vt:lpstr>
      <vt:lpstr>PebbleVTI</vt:lpstr>
      <vt:lpstr>Queque girasol</vt:lpstr>
      <vt:lpstr>Problema de diseño y cliente</vt:lpstr>
      <vt:lpstr>Público meta y necesidades identificadas</vt:lpstr>
      <vt:lpstr>Racional creativo y concepto visual</vt:lpstr>
      <vt:lpstr>Explicación de estructura y componentes principales</vt:lpstr>
      <vt:lpstr>Presentación de PowerPoint</vt:lpstr>
      <vt:lpstr>Guía de diseño y especificaciones</vt:lpstr>
      <vt:lpstr>Validación de accesibilidad</vt:lpstr>
      <vt:lpstr>Conclusión y resultados esperados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Jafeth Espinoza Villarreal</dc:creator>
  <cp:lastModifiedBy>Jafeth Espinoza Villarreal</cp:lastModifiedBy>
  <cp:revision>3</cp:revision>
  <dcterms:created xsi:type="dcterms:W3CDTF">2026-06-29T04:33:45Z</dcterms:created>
  <dcterms:modified xsi:type="dcterms:W3CDTF">2026-06-29T09:08:19Z</dcterms:modified>
</cp:coreProperties>
</file>